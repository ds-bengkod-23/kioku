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8842B"/>
                </a:solidFill>
                <a:latin typeface="Consolas"/>
              </a:rPr>
              <a:t>PRESENTASI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315200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E7EAE6"/>
                </a:solidFill>
                <a:latin typeface="Constantia"/>
              </a:rPr>
              <a:t>Kioku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B8842B"/>
                </a:solidFill>
                <a:latin typeface="Yu Gothic"/>
              </a:rPr>
              <a:t>記憶 (kioku) </a:t>
            </a:r>
            <a:r>
              <a:rPr sz="1300">
                <a:solidFill>
                  <a:srgbClr val="9AA3B4"/>
                </a:solidFill>
                <a:latin typeface="Segoe UI"/>
              </a:rPr>
              <a:t>— bahasa Jepang untuk "ingatan".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29000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E7EAE6"/>
                </a:solidFill>
                <a:latin typeface="Constantia"/>
              </a:rPr>
              <a:t>Aplikasi yang bikin rapat jadi lebih rapi — dari jadwal sampai catatan hasil rapat, semuanya otomatis.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4709160"/>
            <a:ext cx="8686800" cy="0"/>
          </a:xfrm>
          <a:prstGeom prst="line">
            <a:avLst/>
          </a:prstGeom>
          <a:ln w="9525">
            <a:solidFill>
              <a:srgbClr val="3A4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489204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7EAE6"/>
                </a:solidFill>
                <a:latin typeface="Segoe UI"/>
              </a:rPr>
              <a:t>Dibangun oleh Audi · Helena · Azmi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2303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A3B4"/>
                </a:solidFill>
                <a:latin typeface="Segoe UI"/>
              </a:rPr>
              <a:t>Disusun buat kalian yang bakal lanjutin project ini.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81160" y="2614510"/>
            <a:ext cx="100584" cy="1171779"/>
          </a:xfrm>
          <a:prstGeom prst="rect">
            <a:avLst/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36608" y="2768732"/>
            <a:ext cx="100584" cy="863336"/>
          </a:xfrm>
          <a:prstGeom prst="rect">
            <a:avLst/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92056" y="2322886"/>
            <a:ext cx="100584" cy="1755028"/>
          </a:xfrm>
          <a:prstGeom prst="rect">
            <a:avLst/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747504" y="2838640"/>
            <a:ext cx="100584" cy="723519"/>
          </a:xfrm>
          <a:prstGeom prst="rect">
            <a:avLst/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2952" y="2425460"/>
            <a:ext cx="100584" cy="1549880"/>
          </a:xfrm>
          <a:prstGeom prst="rect">
            <a:avLst/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0" y="2577194"/>
            <a:ext cx="100584" cy="1246412"/>
          </a:xfrm>
          <a:prstGeom prst="rect">
            <a:avLst/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213848" y="2851512"/>
            <a:ext cx="100584" cy="697776"/>
          </a:xfrm>
          <a:prstGeom prst="rect">
            <a:avLst/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69296" y="2450821"/>
            <a:ext cx="100584" cy="1499158"/>
          </a:xfrm>
          <a:prstGeom prst="rect">
            <a:avLst/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24744" y="2869791"/>
            <a:ext cx="100584" cy="661217"/>
          </a:xfrm>
          <a:prstGeom prst="rect">
            <a:avLst/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80192" y="2516608"/>
            <a:ext cx="100584" cy="1367584"/>
          </a:xfrm>
          <a:prstGeom prst="rect">
            <a:avLst/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35640" y="2840941"/>
            <a:ext cx="100584" cy="718917"/>
          </a:xfrm>
          <a:prstGeom prst="rect">
            <a:avLst/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91088" y="2822346"/>
            <a:ext cx="100584" cy="756108"/>
          </a:xfrm>
          <a:prstGeom prst="rect">
            <a:avLst/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146536" y="2524744"/>
            <a:ext cx="100584" cy="1351311"/>
          </a:xfrm>
          <a:prstGeom prst="rect">
            <a:avLst/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301984" y="2166048"/>
            <a:ext cx="100584" cy="2068703"/>
          </a:xfrm>
          <a:prstGeom prst="rect">
            <a:avLst/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57432" y="2792846"/>
            <a:ext cx="100584" cy="815108"/>
          </a:xfrm>
          <a:prstGeom prst="rect">
            <a:avLst/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612880" y="2704194"/>
            <a:ext cx="100584" cy="992412"/>
          </a:xfrm>
          <a:prstGeom prst="rect">
            <a:avLst/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14255" y="2743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472"/>
                </a:solidFill>
                <a:latin typeface="Consolas"/>
              </a:rPr>
              <a:t>01 / 10  ·  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F620F"/>
                </a:solidFill>
                <a:latin typeface="Consolas"/>
              </a:rPr>
              <a:t>KENAPA KIOKU DIBIKIN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71B24"/>
                </a:solidFill>
                <a:latin typeface="Constantia"/>
              </a:rPr>
              <a:t>Rapat yang Berantakan, Jadi Lebih Rapi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28800"/>
          <a:ext cx="1082009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047"/>
                <a:gridCol w="5410047"/>
              </a:tblGrid>
              <a:tr h="914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472"/>
                          </a:solidFill>
                          <a:latin typeface="Consolas"/>
                        </a:rPr>
                        <a:t>Masalahnya</a:t>
                      </a:r>
                    </a:p>
                  </a:txBody>
                  <a:tcPr marL="91440" marT="45720" marB="45720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472"/>
                          </a:solidFill>
                          <a:latin typeface="Consolas"/>
                        </a:rPr>
                        <a:t>Solusi Kioku</a:t>
                      </a:r>
                    </a:p>
                  </a:txBody>
                  <a:tcPr marL="91440" marT="45720" marB="45720">
                    <a:solidFill>
                      <a:srgbClr val="F6F7F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B24"/>
                          </a:solidFill>
                          <a:latin typeface="Segoe UI"/>
                        </a:rPr>
                        <a:t>Absen masih manual, dicatat di kertas atau Google Form terpisah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B24"/>
                          </a:solidFill>
                          <a:latin typeface="Segoe UI"/>
                        </a:rPr>
                        <a:t>Peserta tinggal klik link buat absen, gak perlu login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B24"/>
                          </a:solidFill>
                          <a:latin typeface="Segoe UI"/>
                        </a:rPr>
                        <a:t>Notulen sering gak ada, atau baru ditulis lama setelah rapat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B24"/>
                          </a:solidFill>
                          <a:latin typeface="Segoe UI"/>
                        </a:rPr>
                        <a:t>Notulen otomatis jadi begitu rapat selesai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B24"/>
                          </a:solidFill>
                          <a:latin typeface="Segoe UI"/>
                        </a:rPr>
                        <a:t>Tugas cuma diomongin, gak ada yang nyatet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1B24"/>
                          </a:solidFill>
                          <a:latin typeface="Segoe UI"/>
                        </a:rPr>
                        <a:t>Tugas otomatis kecatet dan diingetin ke orangnya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814255" y="2743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472"/>
                </a:solidFill>
                <a:latin typeface="Consolas"/>
              </a:rPr>
              <a:t>02 / 10  ·  Masalah &amp; Solusi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F620F"/>
                </a:solidFill>
                <a:latin typeface="Consolas"/>
              </a:rPr>
              <a:t>TIM DI BALIK KIOKU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B24"/>
                </a:solidFill>
                <a:latin typeface="Constantia"/>
              </a:rPr>
              <a:t>Tiga Orang, Tiga Bagian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965960"/>
            <a:ext cx="10820095" cy="0"/>
          </a:xfrm>
          <a:prstGeom prst="line">
            <a:avLst/>
          </a:prstGeom>
          <a:ln w="9525">
            <a:solidFill>
              <a:srgbClr val="D3D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211226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71B24"/>
                </a:solidFill>
                <a:latin typeface="Segoe UI"/>
              </a:rPr>
              <a:t>Audi —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Ngurusin bagian yang gak keliatan tapi paling penting: nyimpen data, jaga keamanan, bikin semua fitur bisa jalan di belakang layar.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3200400"/>
            <a:ext cx="10820095" cy="0"/>
          </a:xfrm>
          <a:prstGeom prst="line">
            <a:avLst/>
          </a:prstGeom>
          <a:ln w="9525">
            <a:solidFill>
              <a:srgbClr val="D3D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334670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71B24"/>
                </a:solidFill>
                <a:latin typeface="Segoe UI"/>
              </a:rPr>
              <a:t>Helena —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Bikin tampilan web yang dipakai sehari-hari, biar gampang dan enak dipakai.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4434840"/>
            <a:ext cx="10820095" cy="0"/>
          </a:xfrm>
          <a:prstGeom prst="line">
            <a:avLst/>
          </a:prstGeom>
          <a:ln w="9525">
            <a:solidFill>
              <a:srgbClr val="D3D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458114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71B24"/>
                </a:solidFill>
                <a:latin typeface="Segoe UI"/>
              </a:rPr>
              <a:t>Azmi —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Bikin fitur AI-nya — yang ubah rekaman suara rapat jadi tulisan dan ringkasan otomatis.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5669280"/>
            <a:ext cx="10820095" cy="0"/>
          </a:xfrm>
          <a:prstGeom prst="line">
            <a:avLst/>
          </a:prstGeom>
          <a:ln w="9525">
            <a:solidFill>
              <a:srgbClr val="D3D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814255" y="2743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472"/>
                </a:solidFill>
                <a:latin typeface="Consolas"/>
              </a:rPr>
              <a:t>03 / 10  ·  Peran Kita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F620F"/>
                </a:solidFill>
                <a:latin typeface="Consolas"/>
              </a:rPr>
              <a:t>TEKNOLOGI YANG DIPAKAI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B24"/>
                </a:solidFill>
                <a:latin typeface="Constantia"/>
              </a:rPr>
              <a:t>Semua Bagian, Satu Tabel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360152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120640"/>
                <a:gridCol w="2862072"/>
              </a:tblGrid>
              <a:tr h="5303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472"/>
                          </a:solidFill>
                          <a:latin typeface="Consolas"/>
                        </a:rPr>
                        <a:t>Teknologi</a:t>
                      </a:r>
                    </a:p>
                  </a:txBody>
                  <a:tcPr marL="91440" marT="45720" marB="45720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472"/>
                          </a:solidFill>
                          <a:latin typeface="Consolas"/>
                        </a:rPr>
                        <a:t>Buat Apa</a:t>
                      </a:r>
                    </a:p>
                  </a:txBody>
                  <a:tcPr marL="91440" marT="45720" marB="45720">
                    <a:solidFill>
                      <a:srgbClr val="F6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472"/>
                          </a:solidFill>
                          <a:latin typeface="Consolas"/>
                        </a:rPr>
                        <a:t>Bagian</a:t>
                      </a:r>
                    </a:p>
                  </a:txBody>
                  <a:tcPr marL="91440" marT="45720" marB="45720">
                    <a:solidFill>
                      <a:srgbClr val="F6F7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B24"/>
                          </a:solidFill>
                          <a:latin typeface="Segoe UI"/>
                        </a:rPr>
                        <a:t>Next.js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B24"/>
                          </a:solidFill>
                          <a:latin typeface="Segoe UI"/>
                        </a:rPr>
                        <a:t>Bikin tampilan web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76F6A"/>
                          </a:solidFill>
                          <a:latin typeface="Consolas"/>
                        </a:rPr>
                        <a:t>Frontend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B24"/>
                          </a:solidFill>
                          <a:latin typeface="Segoe UI"/>
                        </a:rPr>
                        <a:t>FastAPI (Python)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B24"/>
                          </a:solidFill>
                          <a:latin typeface="Segoe UI"/>
                        </a:rPr>
                        <a:t>Otak sistem di belakang layar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76F6A"/>
                          </a:solidFill>
                          <a:latin typeface="Consolas"/>
                        </a:rPr>
                        <a:t>Backend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B24"/>
                          </a:solidFill>
                          <a:latin typeface="Segoe UI"/>
                        </a:rPr>
                        <a:t>PostgreSQL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B24"/>
                          </a:solidFill>
                          <a:latin typeface="Segoe UI"/>
                        </a:rPr>
                        <a:t>Tempat nyimpen semua data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76F6A"/>
                          </a:solidFill>
                          <a:latin typeface="Consolas"/>
                        </a:rPr>
                        <a:t>Backend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B24"/>
                          </a:solidFill>
                          <a:latin typeface="Segoe UI"/>
                        </a:rPr>
                        <a:t>Redis &amp; Celery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B24"/>
                          </a:solidFill>
                          <a:latin typeface="Segoe UI"/>
                        </a:rPr>
                        <a:t>Biar proses berat gak bikin web lemot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76F6A"/>
                          </a:solidFill>
                          <a:latin typeface="Consolas"/>
                        </a:rPr>
                        <a:t>Backend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B24"/>
                          </a:solidFill>
                          <a:latin typeface="Segoe UI"/>
                        </a:rPr>
                        <a:t>AI (OpenAI/Gemini)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B24"/>
                          </a:solidFill>
                          <a:latin typeface="Segoe UI"/>
                        </a:rPr>
                        <a:t>Ubah suara jadi teks &amp; bikin ringkasan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76F6A"/>
                          </a:solidFill>
                          <a:latin typeface="Consolas"/>
                        </a:rPr>
                        <a:t>Machine Learning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B24"/>
                          </a:solidFill>
                          <a:latin typeface="Segoe UI"/>
                        </a:rPr>
                        <a:t>AI Pengenal Suara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B24"/>
                          </a:solidFill>
                          <a:latin typeface="Segoe UI"/>
                        </a:rPr>
                        <a:t>Nebak siapa yang lagi ngomong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76F6A"/>
                          </a:solidFill>
                          <a:latin typeface="Consolas"/>
                        </a:rPr>
                        <a:t>Machine Learning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B24"/>
                          </a:solidFill>
                          <a:latin typeface="Segoe UI"/>
                        </a:rPr>
                        <a:t>Docker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1B24"/>
                          </a:solidFill>
                          <a:latin typeface="Segoe UI"/>
                        </a:rPr>
                        <a:t>Biar semua bagian gampang dijalanin bareng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76F6A"/>
                          </a:solidFill>
                          <a:latin typeface="Consolas"/>
                        </a:rPr>
                        <a:t>Semua Bagian</a:t>
                      </a:r>
                    </a:p>
                  </a:txBody>
                  <a:tcPr marL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814255" y="2743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472"/>
                </a:solidFill>
                <a:latin typeface="Consolas"/>
              </a:rPr>
              <a:t>04 / 10  ·  Tech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F620F"/>
                </a:solidFill>
                <a:latin typeface="Consolas"/>
              </a:rPr>
              <a:t>BAGIAN YANG DILIHAT USER — HELENA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B24"/>
                </a:solidFill>
                <a:latin typeface="Constantia"/>
              </a:rPr>
              <a:t>Frontend: Wajah dari Kioku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965960"/>
            <a:ext cx="10820095" cy="0"/>
          </a:xfrm>
          <a:prstGeom prst="line">
            <a:avLst/>
          </a:prstGeom>
          <a:ln w="9525">
            <a:solidFill>
              <a:srgbClr val="D3D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211226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71B24"/>
                </a:solidFill>
                <a:latin typeface="Segoe UI"/>
              </a:rPr>
              <a:t>Yang Kalian Lihat &amp; Pakai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Semua halaman yang dibuka user — halaman rapat, halaman check-in, halaman profil — itu semua bagian Frontend.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3200400"/>
            <a:ext cx="10820095" cy="0"/>
          </a:xfrm>
          <a:prstGeom prst="line">
            <a:avLst/>
          </a:prstGeom>
          <a:ln w="9525">
            <a:solidFill>
              <a:srgbClr val="D3D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334670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71B24"/>
                </a:solidFill>
                <a:latin typeface="Segoe UI"/>
              </a:rPr>
              <a:t>Next.js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Teknologi yang dipakai biar tampilannya cepat dan enak dipakai, baik di HP maupun laptop.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4434840"/>
            <a:ext cx="10820095" cy="0"/>
          </a:xfrm>
          <a:prstGeom prst="line">
            <a:avLst/>
          </a:prstGeom>
          <a:ln w="9525">
            <a:solidFill>
              <a:srgbClr val="D3D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458114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71B24"/>
                </a:solidFill>
                <a:latin typeface="Segoe UI"/>
              </a:rPr>
              <a:t>Halaman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Ada juga halaman khusus buat admin, buat ngatur pengguna dan liat laporan.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5669280"/>
            <a:ext cx="10820095" cy="0"/>
          </a:xfrm>
          <a:prstGeom prst="line">
            <a:avLst/>
          </a:prstGeom>
          <a:ln w="9525">
            <a:solidFill>
              <a:srgbClr val="D3D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814255" y="2743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472"/>
                </a:solidFill>
                <a:latin typeface="Consolas"/>
              </a:rPr>
              <a:t>05 / 10  ·  FE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F620F"/>
                </a:solidFill>
                <a:latin typeface="Consolas"/>
              </a:rPr>
              <a:t>BAGIAN DI BALIK LAYAR — AUDI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B24"/>
                </a:solidFill>
                <a:latin typeface="Constantia"/>
              </a:rPr>
              <a:t>Backend: Dapur dari Kioku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965960"/>
            <a:ext cx="10820095" cy="0"/>
          </a:xfrm>
          <a:prstGeom prst="line">
            <a:avLst/>
          </a:prstGeom>
          <a:ln w="9525">
            <a:solidFill>
              <a:srgbClr val="D3D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211226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71B24"/>
                </a:solidFill>
                <a:latin typeface="Segoe UI"/>
              </a:rPr>
              <a:t>Nyimpen &amp; Ngatur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Semua data rapat, peserta, dan tugas disimpen dan diatur di sini.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3200400"/>
            <a:ext cx="10820095" cy="0"/>
          </a:xfrm>
          <a:prstGeom prst="line">
            <a:avLst/>
          </a:prstGeom>
          <a:ln w="9525">
            <a:solidFill>
              <a:srgbClr val="D3D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334670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71B24"/>
                </a:solidFill>
                <a:latin typeface="Segoe UI"/>
              </a:rPr>
              <a:t>Kirim Email Otomatis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Undangan rapat dan notulen dikirim otomatis, gak perlu manual.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4434840"/>
            <a:ext cx="10820095" cy="0"/>
          </a:xfrm>
          <a:prstGeom prst="line">
            <a:avLst/>
          </a:prstGeom>
          <a:ln w="9525">
            <a:solidFill>
              <a:srgbClr val="D3D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458114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71B24"/>
                </a:solidFill>
                <a:latin typeface="Segoe UI"/>
              </a:rPr>
              <a:t>Jaga Keamanan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Nentuin siapa boleh lihat atau ubah apa — biar data gak sembarangan diakses.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5669280"/>
            <a:ext cx="10820095" cy="0"/>
          </a:xfrm>
          <a:prstGeom prst="line">
            <a:avLst/>
          </a:prstGeom>
          <a:ln w="9525">
            <a:solidFill>
              <a:srgbClr val="D3D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814255" y="2743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472"/>
                </a:solidFill>
                <a:latin typeface="Consolas"/>
              </a:rPr>
              <a:t>06 / 10  ·  BE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76F6A"/>
                </a:solidFill>
                <a:latin typeface="Consolas"/>
              </a:rPr>
              <a:t>BAGIAN PALING “AJAIB” — AZMI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71B24"/>
                </a:solidFill>
                <a:latin typeface="Constantia"/>
              </a:rPr>
              <a:t>Machine Learning: Bikin Rapat Jadi Catatan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965960"/>
            <a:ext cx="10820095" cy="0"/>
          </a:xfrm>
          <a:prstGeom prst="line">
            <a:avLst/>
          </a:prstGeom>
          <a:ln w="9525">
            <a:solidFill>
              <a:srgbClr val="D3D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211226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71B24"/>
                </a:solidFill>
                <a:latin typeface="Segoe UI"/>
              </a:rPr>
              <a:t>Suara Jadi Tulisan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Rekaman rapat otomatis diubah jadi teks lengkap, gak perlu diketik manual.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3200400"/>
            <a:ext cx="10820095" cy="0"/>
          </a:xfrm>
          <a:prstGeom prst="line">
            <a:avLst/>
          </a:prstGeom>
          <a:ln w="9525">
            <a:solidFill>
              <a:srgbClr val="D3D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334670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71B24"/>
                </a:solidFill>
                <a:latin typeface="Segoe UI"/>
              </a:rPr>
              <a:t>Ringkasan &amp; Tugas Otomatis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Teksnya diringkas, dan tugas-tugas ikut kecatet otomatis, dibantu AI (ChatGPT/Gemini).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4434840"/>
            <a:ext cx="10820095" cy="0"/>
          </a:xfrm>
          <a:prstGeom prst="line">
            <a:avLst/>
          </a:prstGeom>
          <a:ln w="9525">
            <a:solidFill>
              <a:srgbClr val="D3D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458114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71B24"/>
                </a:solidFill>
                <a:latin typeface="Segoe UI"/>
              </a:rPr>
              <a:t>Kenalan Suara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Ada juga AI yang bisa nebak siapa yang lagi ngomong — jalan di server sendiri, jadi lebih aman.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5669280"/>
            <a:ext cx="10820095" cy="0"/>
          </a:xfrm>
          <a:prstGeom prst="line">
            <a:avLst/>
          </a:prstGeom>
          <a:ln w="9525">
            <a:solidFill>
              <a:srgbClr val="D3D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814255" y="2743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472"/>
                </a:solidFill>
                <a:latin typeface="Consolas"/>
              </a:rPr>
              <a:t>07 / 10  ·  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F620F"/>
                </a:solidFill>
                <a:latin typeface="Consolas"/>
              </a:rPr>
              <a:t>SIAPA AJA YANG PAKAI KIOKU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B24"/>
                </a:solidFill>
                <a:latin typeface="Constantia"/>
              </a:rPr>
              <a:t>Empat Jenis Pengguna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5181447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b="1" sz="1600">
                <a:solidFill>
                  <a:srgbClr val="171B24"/>
                </a:solidFill>
                <a:latin typeface="Segoe UI"/>
              </a:rPr>
              <a:t>User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Orang yang ikut rapat — bisa absen, terima notulen, dan lihat tugasnya sendiri.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4447" y="1783080"/>
            <a:ext cx="5181447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b="1" sz="1600">
                <a:solidFill>
                  <a:srgbClr val="171B24"/>
                </a:solidFill>
                <a:latin typeface="Segoe UI"/>
              </a:rPr>
              <a:t>Organizer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Yang bikin rapat — undang peserta, upload rekaman, ngatur jadwalnya.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474720"/>
            <a:ext cx="5181447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b="1" sz="1600">
                <a:solidFill>
                  <a:srgbClr val="171B24"/>
                </a:solidFill>
                <a:latin typeface="Segoe UI"/>
              </a:rPr>
              <a:t>Admin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Bantu ngurus sistem — misalnya kalau ada akun yang bermasalah.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4447" y="3474720"/>
            <a:ext cx="5181447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b="1" sz="1600">
                <a:solidFill>
                  <a:srgbClr val="171B24"/>
                </a:solidFill>
                <a:latin typeface="Segoe UI"/>
              </a:rPr>
              <a:t>Superadmin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Admin paling atas — yang nentuin siapa aja yang boleh jadi admin.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2743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472"/>
                </a:solidFill>
                <a:latin typeface="Consolas"/>
              </a:rPr>
              <a:t>08 / 10  ·  Peran Sistem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F620F"/>
                </a:solidFill>
                <a:latin typeface="Consolas"/>
              </a:rPr>
              <a:t>DARI AWAL SAMPAI SELESAI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B24"/>
                </a:solidFill>
                <a:latin typeface="Constantia"/>
              </a:rPr>
              <a:t>Alur Pakai Kioku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2596896"/>
            <a:ext cx="10820095" cy="0"/>
          </a:xfrm>
          <a:prstGeom prst="line">
            <a:avLst/>
          </a:prstGeom>
          <a:ln w="9525">
            <a:solidFill>
              <a:srgbClr val="D3D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246888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F6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8F620F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1907987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71B24"/>
                </a:solidFill>
                <a:latin typeface="Segoe UI"/>
              </a:rPr>
              <a:t>Bikin Jadwal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55264"/>
            <a:ext cx="1907987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B6472"/>
                </a:solidFill>
                <a:latin typeface="Segoe UI"/>
              </a:rPr>
              <a:t>Organizer bikin rapat &amp; undang peserta lewat email.</a:t>
            </a:r>
          </a:p>
        </p:txBody>
      </p:sp>
      <p:sp>
        <p:nvSpPr>
          <p:cNvPr id="9" name="Oval 8"/>
          <p:cNvSpPr/>
          <p:nvPr/>
        </p:nvSpPr>
        <p:spPr>
          <a:xfrm>
            <a:off x="2913827" y="246888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F6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8F620F"/>
                </a:solidFill>
                <a:latin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3827" y="2926080"/>
            <a:ext cx="1907987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71B24"/>
                </a:solidFill>
                <a:latin typeface="Segoe UI"/>
              </a:rPr>
              <a:t>Peserta Absen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3827" y="3255264"/>
            <a:ext cx="1907987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B6472"/>
                </a:solidFill>
                <a:latin typeface="Segoe UI"/>
              </a:rPr>
              <a:t>Tinggal klik link, gak perlu login.</a:t>
            </a:r>
          </a:p>
        </p:txBody>
      </p:sp>
      <p:sp>
        <p:nvSpPr>
          <p:cNvPr id="12" name="Oval 11"/>
          <p:cNvSpPr/>
          <p:nvPr/>
        </p:nvSpPr>
        <p:spPr>
          <a:xfrm>
            <a:off x="5141854" y="246888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F6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8F620F"/>
                </a:solidFill>
                <a:latin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1854" y="2926080"/>
            <a:ext cx="1907987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71B24"/>
                </a:solidFill>
                <a:latin typeface="Segoe UI"/>
              </a:rPr>
              <a:t>Rapat Direkam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1854" y="3255264"/>
            <a:ext cx="1907987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B6472"/>
                </a:solidFill>
                <a:latin typeface="Segoe UI"/>
              </a:rPr>
              <a:t>Audio diunggah setelah rapat selesai.</a:t>
            </a:r>
          </a:p>
        </p:txBody>
      </p:sp>
      <p:sp>
        <p:nvSpPr>
          <p:cNvPr id="15" name="Oval 14"/>
          <p:cNvSpPr/>
          <p:nvPr/>
        </p:nvSpPr>
        <p:spPr>
          <a:xfrm>
            <a:off x="7369881" y="246888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F6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8F620F"/>
                </a:solidFill>
                <a:latin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9881" y="2926080"/>
            <a:ext cx="1907987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71B24"/>
                </a:solidFill>
                <a:latin typeface="Segoe UI"/>
              </a:rPr>
              <a:t>Diubah Otomatis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9881" y="3255264"/>
            <a:ext cx="1907987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B6472"/>
                </a:solidFill>
                <a:latin typeface="Segoe UI"/>
              </a:rPr>
              <a:t>Jadi teks, ringkasan, dan daftar tugas.</a:t>
            </a:r>
          </a:p>
        </p:txBody>
      </p:sp>
      <p:sp>
        <p:nvSpPr>
          <p:cNvPr id="18" name="Oval 17"/>
          <p:cNvSpPr/>
          <p:nvPr/>
        </p:nvSpPr>
        <p:spPr>
          <a:xfrm>
            <a:off x="9597908" y="246888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F6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8F620F"/>
                </a:solidFill>
                <a:latin typeface="Consola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7908" y="2926080"/>
            <a:ext cx="1907987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71B24"/>
                </a:solidFill>
                <a:latin typeface="Segoe UI"/>
              </a:rPr>
              <a:t>Semua Terkirim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7908" y="3255264"/>
            <a:ext cx="1907987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B6472"/>
                </a:solidFill>
                <a:latin typeface="Segoe UI"/>
              </a:rPr>
              <a:t>Notulen &amp; tugas dikirim ke semua peserta.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4255" y="2743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472"/>
                </a:solidFill>
                <a:latin typeface="Consolas"/>
              </a:rPr>
              <a:t>09 / 10  ·  Cara Kerja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F620F"/>
                </a:solidFill>
                <a:latin typeface="Consolas"/>
              </a:rPr>
              <a:t>SAMPAI SINI DULU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B24"/>
                </a:solidFill>
                <a:latin typeface="Constantia"/>
              </a:rPr>
              <a:t>Yuk, Lanjutin Bareng-Bareng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9601200" cy="1005840"/>
          </a:xfrm>
          <a:prstGeom prst="rect">
            <a:avLst/>
          </a:prstGeom>
          <a:solidFill>
            <a:srgbClr val="F6F7F4"/>
          </a:solidFill>
          <a:ln w="9525">
            <a:solidFill>
              <a:srgbClr val="D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i="1" sz="1700">
                <a:solidFill>
                  <a:srgbClr val="171B24"/>
                </a:solidFill>
                <a:latin typeface="Constantia"/>
              </a:rPr>
              <a:t>“Kioku masih terus dikembangin — dan kalian bisa jadi bagian dari cerita selanjutnya.”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832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472"/>
                </a:solidFill>
                <a:latin typeface="Segoe UI"/>
              </a:rPr>
              <a:t>Audi (Backend)   ·   Helena (Frontend)   ·   Azmi (ML)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2743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472"/>
                </a:solidFill>
                <a:latin typeface="Consolas"/>
              </a:rPr>
              <a:t>10 / 10  ·  Penutup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